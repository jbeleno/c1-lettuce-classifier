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01 / 13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3291840"/>
            <a:ext cx="256032" cy="256032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078992" y="3419856.0"/>
            <a:ext cx="502920" cy="0.0"/>
          </a:xfrm>
          <a:prstGeom prst="line">
            <a:avLst/>
          </a:prstGeom>
          <a:ln w="19050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581912" y="3291840"/>
            <a:ext cx="256032" cy="25603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837944" y="3419856.0"/>
            <a:ext cx="502920" cy="0.0"/>
          </a:xfrm>
          <a:prstGeom prst="line">
            <a:avLst/>
          </a:prstGeom>
          <a:ln w="1905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2340864" y="3291840"/>
            <a:ext cx="256032" cy="25603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596896" y="3419856.0"/>
            <a:ext cx="502920" cy="0.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099816" y="3291840"/>
            <a:ext cx="256032" cy="25603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355848" y="3419856.0"/>
            <a:ext cx="502920" cy="0.0"/>
          </a:xfrm>
          <a:prstGeom prst="line">
            <a:avLst/>
          </a:prstGeom>
          <a:ln w="19050">
            <a:solidFill>
              <a:srgbClr val="22C5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858768" y="3291840"/>
            <a:ext cx="256032" cy="25603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JetBrains Mono"/>
              </a:rPr>
              <a:t>USCO BEINSOF52 · Artificial Intelligence · Project C1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182880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8FAFC"/>
                </a:solidFill>
                <a:latin typeface="Inter"/>
              </a:rPr>
              <a:t>Hydroponic Lettuce
Growth-Stage Classifier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0233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Inter"/>
              </a:rPr>
              <a:t>Five deep-learning backbones · ensemble · FastAPI · React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8FAFC"/>
                </a:solidFill>
                <a:latin typeface="Inter"/>
              </a:rPr>
              <a:t>Jesús Beleño · Juan Forero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440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JetBrains Mono"/>
              </a:rP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01 · THE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Is this pod ready to harvest?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685800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Inter"/>
              </a:rPr>
              <a:t>Hydroponic operators face a recurrent perception task: every pod in a tray is at a different point of the growth timeline, and the right moment to harvest, re-sow or fertilize is decided pod-by-pod.
Doing this visually for 1,500+ pods a day is feasible but fatiguing. The cost of error compounds in both directions — harvest early and yield drops; harvest late and the plant bolts.
We trained an image classifier that returns the growth stage of one pod in under a second and persists every decision so the same farm can audit and retrain.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2103120"/>
            <a:ext cx="347472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26771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JetBrains Mono"/>
              </a:rPr>
              <a:t>19,721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8163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labeled pod 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3383280"/>
            <a:ext cx="347472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54787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JetBrains Mono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0965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growth stages classified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4663440"/>
            <a:ext cx="347472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828032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JetBrains Mono"/>
              </a:rPr>
              <a:t>93.86%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376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test accuracy (Swin-T)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02 ·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Roboflow lettuce-pallets · 19,721 crops</a:t>
            </a:r>
          </a:p>
        </p:txBody>
      </p:sp>
      <p:pic>
        <p:nvPicPr>
          <p:cNvPr id="8" name="Picture 7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858000" cy="3429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55279" y="173736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SOURCE FRAMES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9933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1,501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46888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CROPS TOTAL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72491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19,721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20040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TRAIN · VAL ·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45643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71.4 % · 14.3 % · 14.3 %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393192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SPLIT STRATEGY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41879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Stratified group-aware (no source-frame leak)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466344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CLASS BALANCE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491947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germ 33.5 %  →  empty 8.1 %  (4.1×)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5394960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BALANCING IN LOSS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6509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class_weight = "balanced"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04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03 · BACKBONES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Five ImageNet-pretrained networks compared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373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7373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ROLE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48840"/>
            <a:ext cx="11247120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32304"/>
            <a:ext cx="10972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MobileNetV3-Small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TensorFlow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~2.5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edge baseline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209544"/>
            <a:ext cx="109728" cy="10972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6324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EfficientNet-B0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306324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TensorFlow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063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~5.3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0632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midsize CNN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86784"/>
            <a:ext cx="109728" cy="10972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840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ResNet50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38404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TensorFlow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840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~25.6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84048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canonical CNN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764024"/>
            <a:ext cx="109728" cy="1097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ViT-B/16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61772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PyTorch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61772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~86 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46177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global self-attention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5541264"/>
            <a:ext cx="109728" cy="109728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3949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8FAFC"/>
                </a:solidFill>
                <a:latin typeface="JetBrains Mono"/>
              </a:rPr>
              <a:t>Swin-Tiny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53949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PyTorch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3949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~28 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5394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Inter"/>
              </a:rPr>
              <a:t>hierarchical attention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JetBrains Mono"/>
              </a:rPr>
              <a:t>Same head topology across the five: backbone → pooling → dropout (TF) → Dense(5, softmax)  with dtype=float32 on the head so mixed precision stays numerically stable.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05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04 ·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End-to-end pipeline</a:t>
            </a:r>
          </a:p>
        </p:txBody>
      </p:sp>
      <p:pic>
        <p:nvPicPr>
          <p:cNvPr id="8" name="Picture 7" descr="05_architectu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315" y="1600200"/>
            <a:ext cx="27270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06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05 ·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Two-phase fit for CNNs · end-to-end for transformers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1109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TF CNNs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phase 1 — head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756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12 ep · Adam(1e-3)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0545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TF CNNs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423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phase 2 — top 30 % of backbone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700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4 ep · Adam(1e-5)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7180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9981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TF 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017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BatchNorm always frozen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2644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preserves running stats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69417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Torch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6118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ViT-B/16 + Swin-T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8587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8 ep · AdamW(3e-5)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28853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42062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two-layer class balancing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4531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sample-level oversampling (balance.py) + loss-level class_weight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75488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48006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augmentation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50474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flip · rotation · brightness · contrast · zoom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34924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47725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All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53949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mixed precision on CUDA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3040" y="56418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fp16 forward · fp32 softmax/loss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943600"/>
            <a:ext cx="86868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071616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All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989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checkpoints on best val_acc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63040" y="62362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ModelCheckpoint + EarlyStopping (patience 3)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07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06 ·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Held-out test set comparison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ACC.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83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MACRO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MACRO RECALL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7830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JetBrains Mono"/>
              </a:rPr>
              <a:t>BEST 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48840"/>
            <a:ext cx="11247120" cy="1828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swin_t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8FAFC"/>
                </a:solidFill>
                <a:latin typeface="JetBrains Mono"/>
              </a:rPr>
              <a:t>93.86%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8FAFC"/>
                </a:solidFill>
                <a:latin typeface="JetBrains Mono"/>
              </a:rPr>
              <a:t>93.19%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8FAFC"/>
                </a:solidFill>
                <a:latin typeface="JetBrains Mono"/>
              </a:rPr>
              <a:t>93.39%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22860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F8FAFC"/>
                </a:solidFill>
                <a:latin typeface="JetBrains Mono"/>
              </a:rPr>
              <a:t>94.03%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788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vit_b_16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788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93.65%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788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92.81%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788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92.57%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27889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94.28%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ensemble_avg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93.65%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93.22%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94.06%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2918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7947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resnet50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90.98%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90.56%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91.72%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3794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90.41%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42976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efficientnet_b0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89.39%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89.32%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91.78%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4297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88.88%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8006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  <a:latin typeface="JetBrains Mono"/>
              </a:rPr>
              <a:t>mobilenet_v3_small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88.32%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88.55%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90.19%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0">
                <a:solidFill>
                  <a:srgbClr val="CBD5E1"/>
                </a:solidFill>
                <a:latin typeface="JetBrains Mono"/>
              </a:rPr>
              <a:t>88.28%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Inter"/>
              </a:rPr>
              <a:t>Swin-Tiny wins overall accuracy. The ensemble wins macro-recall — the metric aligned with operational cost (every missed Ready costs harvest timing; every missed empty_pod costs re-sowing).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08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07 · PER-CLASS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Where does Swin-Tiny still confuse?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5265472" cy="4389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1828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young → pod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157984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Inter"/>
              </a:rPr>
              <a:t>the most expensive confusion. Visually similar mid-stage canopies.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926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empty_pod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255264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Inter"/>
              </a:rPr>
              <a:t>highest per-class precision. Visually distinct (no plant).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Ready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352544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Inter"/>
              </a:rPr>
              <a:t>high recall. The operationally critical class is well caught.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120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germination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5449824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  <a:latin typeface="Inter"/>
              </a:rPr>
              <a:t>isolated. Smallest class but most distinct early-stage cue.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09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08 ·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FastAPI · PostgreSQL · React · Vite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POST /predict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194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upload → predict → persist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GET /history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6974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paginated, label/model filters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GET /metrics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2004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model-comparison 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8FAFC"/>
                </a:solidFill>
                <a:latin typeface="JetBrains Mono"/>
              </a:rPr>
              <a:t>GET /models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70332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Inter"/>
              </a:rPr>
              <a:t>what is loadable right 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ENGINEERING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Inter"/>
              </a:rPr>
              <a:t>Lazy model loading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4505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TF + Torch share one process · RLock so the ensemble loader doesn't self-deadlock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718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Inter"/>
              </a:rPr>
              <a:t>TF pinned to CPU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22783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PyTorch keeps the GPU; no Metal/CUDA contention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7490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Inter"/>
              </a:rPr>
              <a:t>StaticPool SQLite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0507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in-memory database in tests · production runs on PostgreSQL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8FAFC"/>
                </a:solidFill>
                <a:latin typeface="Inter"/>
              </a:rPr>
              <a:t>Vite proxy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7823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/api/* → 127.0.0.1:8000 — no CORS in dev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10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09 · 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React dashboard · webcam · viewfinder crop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6400800" cy="452628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6400800" cy="1905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  <a:latin typeface="JetBrains Mono"/>
              </a:rPr>
              <a:t>● c1/lettuce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828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predict · history · metrics · models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84832"/>
            <a:ext cx="50292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331720"/>
            <a:ext cx="3108960" cy="219456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331720"/>
            <a:ext cx="16459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331720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328" y="2331720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67328" y="2331720"/>
            <a:ext cx="16459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12870" y="2331720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4361688"/>
            <a:ext cx="16459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361688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507230"/>
            <a:ext cx="16459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67328" y="4361688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67328" y="4507230"/>
            <a:ext cx="16459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2870" y="4361688"/>
            <a:ext cx="19050" cy="1645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461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JetBrains Mono"/>
              </a:rPr>
              <a:t>drag, paste or click</a:t>
            </a:r>
          </a:p>
        </p:txBody>
      </p:sp>
      <p:sp>
        <p:nvSpPr>
          <p:cNvPr id="26" name="Oval 25"/>
          <p:cNvSpPr/>
          <p:nvPr/>
        </p:nvSpPr>
        <p:spPr>
          <a:xfrm>
            <a:off x="4114800" y="2468880"/>
            <a:ext cx="164592" cy="164592"/>
          </a:xfrm>
          <a:prstGeom prst="ellipse">
            <a:avLst/>
          </a:prstGeom>
          <a:solidFill>
            <a:srgbClr val="0F172A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5424" y="2468880"/>
            <a:ext cx="164592" cy="164592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56048" y="2468880"/>
            <a:ext cx="164592" cy="164592"/>
          </a:xfrm>
          <a:prstGeom prst="ellipse">
            <a:avLst/>
          </a:prstGeom>
          <a:solidFill>
            <a:srgbClr val="0F172A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376672" y="2468880"/>
            <a:ext cx="164592" cy="164592"/>
          </a:xfrm>
          <a:prstGeom prst="ellipse">
            <a:avLst/>
          </a:prstGeom>
          <a:solidFill>
            <a:srgbClr val="0F172A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797296" y="2468880"/>
            <a:ext cx="164592" cy="164592"/>
          </a:xfrm>
          <a:prstGeom prst="ellipse">
            <a:avLst/>
          </a:prstGeom>
          <a:solidFill>
            <a:srgbClr val="0F172A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2761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78BFA"/>
                </a:solidFill>
                <a:latin typeface="JetBrains Mono"/>
              </a:rPr>
              <a:t>germination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03580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8FAFC"/>
                </a:solidFill>
                <a:latin typeface="JetBrains Mono"/>
              </a:rPr>
              <a:t>98.21%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566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JetBrains Mono"/>
              </a:rPr>
              <a:t>via ensemble_avg · 42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40233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empty_pod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74920" y="4069080"/>
            <a:ext cx="1463040" cy="1905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11112" y="40233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JetBrains Mono"/>
              </a:rPr>
              <a:t>0.000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4279392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A78BFA"/>
                </a:solidFill>
                <a:latin typeface="JetBrains Mono"/>
              </a:rPr>
              <a:t>germination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4325112"/>
            <a:ext cx="1463040" cy="1905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74920" y="4325112"/>
            <a:ext cx="1436822" cy="1905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11112" y="42793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CBD5E1"/>
                </a:solidFill>
                <a:latin typeface="JetBrains Mono"/>
              </a:rPr>
              <a:t>0.982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53542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young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4581144"/>
            <a:ext cx="1463040" cy="1905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74920" y="4581144"/>
            <a:ext cx="25851" cy="1905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4535424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JetBrains Mono"/>
              </a:rPr>
              <a:t>0.018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0" y="479145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pod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74920" y="4837176"/>
            <a:ext cx="1463040" cy="1905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11112" y="4791456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JetBrains Mono"/>
              </a:rPr>
              <a:t>0.000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504748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Ready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74920" y="5093208"/>
            <a:ext cx="1463040" cy="1905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11112" y="504748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4A3B8"/>
                </a:solidFill>
                <a:latin typeface="JetBrains Mono"/>
              </a:rPr>
              <a:t>0.000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0" y="1901952"/>
            <a:ext cx="19050" cy="365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498079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Vanilla getUserMedia for the laptop webcam — no camera library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2724912"/>
            <a:ext cx="19050" cy="365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26517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Drag-and-drop, clipboard paste or click on the viewfinder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0" y="3547872"/>
            <a:ext cx="19050" cy="365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98079" y="34747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Crop step between picking and predicting — one pod per request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00" y="4370832"/>
            <a:ext cx="19050" cy="365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98079" y="42976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The GrowthSpine signature runs across all four routes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0" y="5193792"/>
            <a:ext cx="19050" cy="3657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498079" y="51206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Single accent per card = the predicted class color, never two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11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10 · WHAT ALMOST SHIPPED WRONG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A loss of 1,191 on the very first MobileNet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JetBrains Mono"/>
              </a:rPr>
              <a:t>The smell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JetBrains Mono"/>
              </a:rPr>
              <a:t>MobileNetV3 was passed include_preprocessing=False with no manual
normalisation, while modern Keras preprocess_input for MobileNetV3
is a no-op. The network was fed pixels in [0, 255] when its ImageNet
weights expected [-1, 1].
Loss exploded into the thousands; test accuracy capped at 0.35 —
barely above the 0.20 random baseline. The fix was one flag.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828800"/>
            <a:ext cx="4023360" cy="4114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1965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BEFORE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24028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64748B"/>
                </a:solidFill>
                <a:latin typeface="JetBrains Mono"/>
              </a:rPr>
              <a:t>test_acc 0.3465
loss epoch 1: 1190.88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3840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AFTER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11480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5E"/>
                </a:solidFill>
                <a:latin typeface="JetBrains Mono"/>
              </a:rPr>
              <a:t>test_acc 0.8832
loss epoch 1: 0.59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512064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JetBrains Mono"/>
              </a:rPr>
              <a:t>One line of code · 4 min training
+0.53 accuracy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12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JetBrains Mono"/>
              </a:rPr>
              <a:t>11 · WHAT'S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315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8FAFC"/>
                </a:solidFill>
                <a:latin typeface="Inter"/>
              </a:rPr>
              <a:t>Engineering and product directions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73152" cy="868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8308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Detection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Add YOLOv8 in front of the classifier. The Roboflow source is annotated with boxes already — fine-tune on the same data, then run our 5-model classifier on each detected box. Closes the multi-pod gap end-to-end.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62072"/>
            <a:ext cx="73152" cy="868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620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Weighted ensemble + stacking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82112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Uniform soft-voting underweights the transformers. Weighted soft voting (val-accuracy proportional) or a logistic-regression meta-learner trained on out-of-fold softmax vectors.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41064"/>
            <a:ext cx="73152" cy="868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941064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K-fold CV in the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6110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make cv-swin already exists and writes reports/cv_swin_t/. Attach a mean ± std to the headline 0.9386 to silence the "lucky split"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20056"/>
            <a:ext cx="73152" cy="8686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020056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8FAFC"/>
                </a:solidFill>
                <a:latin typeface="Inter"/>
              </a:rPr>
              <a:t>Cloud deployment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4009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  <a:latin typeface="Inter"/>
              </a:rPr>
              <a:t>Dockerize the FastAPI service + Postgres, push to Render free tier, get a public https URL the operator opens on a tablet.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JetBrains Mono"/>
              </a:rPr>
              <a:t>c1 · hydroponic lettuce growth-stage classifier · USCO BEINSOF52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6446520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JetBrains Mono"/>
              </a:rPr>
              <a:t>13 /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4A3B8"/>
                </a:solidFill>
                <a:latin typeface="JetBrains Mono"/>
              </a:rPr>
              <a:t>QUESTIONS ·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>
                <a:solidFill>
                  <a:srgbClr val="F8FAFC"/>
                </a:solidFill>
                <a:latin typeface="Inter"/>
              </a:rPr>
              <a:t>Thanks.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0">
                <a:solidFill>
                  <a:srgbClr val="38BDF8"/>
                </a:solidFill>
                <a:latin typeface="JetBrains Mono"/>
              </a:rPr>
              <a:t>github.com/jbeleno/c1-lettuce-classifier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CBD5E1"/>
                </a:solidFill>
                <a:latin typeface="Inter"/>
              </a:rPr>
              <a:t>Jesús Beleño · Juan Forero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